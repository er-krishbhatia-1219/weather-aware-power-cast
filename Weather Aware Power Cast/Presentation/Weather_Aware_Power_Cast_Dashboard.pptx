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dd43f69d3f4740" /><Relationship Type="http://schemas.openxmlformats.org/officeDocument/2006/relationships/extended-properties" Target="/docProps/app.xml" Id="Rc9de6446e34e4cac" /><Relationship Type="http://schemas.openxmlformats.org/officeDocument/2006/relationships/officeDocument" Target="/ppt/presentation.xml" Id="R10027fa42d08450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a3000664d9e4a47"/>
  </p:sldMasterIdLst>
  <p:notesMasterIdLst>
    <p:notesMasterId xmlns:r="http://schemas.openxmlformats.org/officeDocument/2006/relationships" r:id="Reca62e02654c42d4"/>
  </p:notesMasterIdLst>
  <p:sldIdLst>
    <p:sldId xmlns:r="http://schemas.openxmlformats.org/officeDocument/2006/relationships" id="256" r:id="Rbd413f0280c24859"/>
    <p:sldId xmlns:r="http://schemas.openxmlformats.org/officeDocument/2006/relationships" id="257" r:id="R5eb3d3ac4f984d70"/>
    <p:sldId xmlns:r="http://schemas.openxmlformats.org/officeDocument/2006/relationships" id="258" r:id="R9d0c860a783c4a06"/>
    <p:sldId xmlns:r="http://schemas.openxmlformats.org/officeDocument/2006/relationships" id="259" r:id="R0cfbcbbf3a654d83"/>
    <p:sldId xmlns:r="http://schemas.openxmlformats.org/officeDocument/2006/relationships" id="260" r:id="R11e7e353b8aa4a22"/>
    <p:sldId xmlns:r="http://schemas.openxmlformats.org/officeDocument/2006/relationships" id="261" r:id="R3a4f5bdb1c4949b1"/>
  </p:sldIdLst>
  <p:sldSz cx="12192000" cy="6858000"/>
  <p:notesSz cx="6858000" cy="9144000"/>
  <p:embeddedFontLst>
    <p:embeddedFont>
      <p:font typeface="Inter"/>
      <p:regular xmlns:r="http://schemas.openxmlformats.org/officeDocument/2006/relationships" r:id="R600a62deeb104ec0"/>
      <p:bold xmlns:r="http://schemas.openxmlformats.org/officeDocument/2006/relationships" r:id="Rbe574fe15418429e"/>
    </p:embeddedFont>
    <p:embeddedFont>
      <p:font typeface="Inter Medium"/>
      <p:regular xmlns:r="http://schemas.openxmlformats.org/officeDocument/2006/relationships" r:id="R15494653213b4c32"/>
    </p:embeddedFont>
    <p:embeddedFont>
      <p:font typeface="Inter SemiBold"/>
      <p:regular xmlns:r="http://schemas.openxmlformats.org/officeDocument/2006/relationships" r:id="R4085709eceee4256"/>
      <p:bold xmlns:r="http://schemas.openxmlformats.org/officeDocument/2006/relationships" r:id="Rac518e401ac24894"/>
    </p:embeddedFont>
    <p:embeddedFont>
      <p:font typeface="OpenAI Sans"/>
      <p:regular xmlns:r="http://schemas.openxmlformats.org/officeDocument/2006/relationships" r:id="Rc83d6e4e4fee407c"/>
      <p:bold xmlns:r="http://schemas.openxmlformats.org/officeDocument/2006/relationships" r:id="Re280d6b5684f4c5d"/>
      <p:italic xmlns:r="http://schemas.openxmlformats.org/officeDocument/2006/relationships" r:id="R14dba64ad9554808"/>
      <p:boldItalic xmlns:r="http://schemas.openxmlformats.org/officeDocument/2006/relationships" r:id="Rb2506c6f1e804c7d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cbafbc8c64309" /><Relationship Type="http://schemas.openxmlformats.org/officeDocument/2006/relationships/slideMaster" Target="/ppt/slideMasters/slideMaster1.xml" Id="Rca3000664d9e4a47" /><Relationship Type="http://schemas.openxmlformats.org/officeDocument/2006/relationships/notesMaster" Target="/ppt/notesMasters/notesMaster1.xml" Id="Reca62e02654c42d4" /><Relationship Type="http://schemas.openxmlformats.org/officeDocument/2006/relationships/presProps" Target="/ppt/presProps.xml" Id="R5697e6bf2876453f" /><Relationship Type="http://schemas.openxmlformats.org/officeDocument/2006/relationships/viewProps" Target="/ppt/viewProps.xml" Id="R3111244d430d45b2" /><Relationship Type="http://schemas.openxmlformats.org/officeDocument/2006/relationships/tableStyles" Target="/ppt/tableStyles.xml" Id="R15d8fb3e51c84639" /><Relationship Type="http://schemas.openxmlformats.org/officeDocument/2006/relationships/font" Target="/ppt/fonts/font.dat" Id="R600a62deeb104ec0" /><Relationship Type="http://schemas.openxmlformats.org/officeDocument/2006/relationships/font" Target="/ppt/fonts/font2.dat" Id="Rbe574fe15418429e" /><Relationship Type="http://schemas.openxmlformats.org/officeDocument/2006/relationships/font" Target="/ppt/fonts/font3.dat" Id="R15494653213b4c32" /><Relationship Type="http://schemas.openxmlformats.org/officeDocument/2006/relationships/font" Target="/ppt/fonts/font4.dat" Id="R4085709eceee4256" /><Relationship Type="http://schemas.openxmlformats.org/officeDocument/2006/relationships/font" Target="/ppt/fonts/font5.dat" Id="Rac518e401ac24894" /><Relationship Type="http://schemas.openxmlformats.org/officeDocument/2006/relationships/font" Target="/ppt/fonts/font6.dat" Id="Rc83d6e4e4fee407c" /><Relationship Type="http://schemas.openxmlformats.org/officeDocument/2006/relationships/font" Target="/ppt/fonts/font7.dat" Id="Re280d6b5684f4c5d" /><Relationship Type="http://schemas.openxmlformats.org/officeDocument/2006/relationships/font" Target="/ppt/fonts/font8.dat" Id="R14dba64ad9554808" /><Relationship Type="http://schemas.openxmlformats.org/officeDocument/2006/relationships/font" Target="/ppt/fonts/font9.dat" Id="Rb2506c6f1e804c7d" /><Relationship Type="http://schemas.openxmlformats.org/officeDocument/2006/relationships/slide" Target="/ppt/slides/slide1.xml" Id="Rbd413f0280c24859" /><Relationship Type="http://schemas.openxmlformats.org/officeDocument/2006/relationships/slide" Target="/ppt/slides/slide2.xml" Id="R5eb3d3ac4f984d70" /><Relationship Type="http://schemas.openxmlformats.org/officeDocument/2006/relationships/slide" Target="/ppt/slides/slide3.xml" Id="R9d0c860a783c4a06" /><Relationship Type="http://schemas.openxmlformats.org/officeDocument/2006/relationships/slide" Target="/ppt/slides/slide4.xml" Id="R0cfbcbbf3a654d83" /><Relationship Type="http://schemas.openxmlformats.org/officeDocument/2006/relationships/slide" Target="/ppt/slides/slide5.xml" Id="R11e7e353b8aa4a22" /><Relationship Type="http://schemas.openxmlformats.org/officeDocument/2006/relationships/slide" Target="/ppt/slides/slide6.xml" Id="R3a4f5bdb1c4949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dbc90ab5a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aff867811b4847" /><Relationship Type="http://schemas.openxmlformats.org/officeDocument/2006/relationships/notesMaster" Target="/ppt/notesMasters/notesMaster1.xml" Id="R6a3a0db0881844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c189f6c38b4dae" /><Relationship Type="http://schemas.openxmlformats.org/officeDocument/2006/relationships/notesMaster" Target="/ppt/notesMasters/notesMaster1.xml" Id="R2a57a2da334d4f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12062ee50846fb" /><Relationship Type="http://schemas.openxmlformats.org/officeDocument/2006/relationships/notesMaster" Target="/ppt/notesMasters/notesMaster1.xml" Id="Re2cb217fbadc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21a7faf56141c3" /><Relationship Type="http://schemas.openxmlformats.org/officeDocument/2006/relationships/notesMaster" Target="/ppt/notesMasters/notesMaster1.xml" Id="Rb9a2099a5d724c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7534d7ce44be3" /><Relationship Type="http://schemas.openxmlformats.org/officeDocument/2006/relationships/notesMaster" Target="/ppt/notesMasters/notesMaster1.xml" Id="R6e56064eed4e49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1aeceec185436f" /><Relationship Type="http://schemas.openxmlformats.org/officeDocument/2006/relationships/notesMaster" Target="/ppt/notesMasters/notesMaster1.xml" Id="Rb91c66a426ae47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Weather Aware Power Cast notebook supplied by the user. All reported model metrics come from its recorded validation and 2024 test evaluation.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Validation results reported in the supplied notebook. The one-day persistence baseline is included as a long-horizon comparison. Lower MAE is better.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test results and baseline comparison reported in the supplied notebook. The selected linear model was refit on training and validation data before the unseen 2024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inventory and data-quality observations are taken from the supplied notebook. The notebook forward-fills wind direction and reports timestamp intervals that are longer than the expected five-minute cadence.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Coordination plan translates the notebook evidence into decisions needed for an operational pilot. Statuses describe the work implied by the notebook and are planning prompts, not reported project 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request based on the supplied project notebook: move the selected linear model toward a monitored pilot only after the team assigns a fallback for missing timestamp intervals and operations ownership.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7cdd4970340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a0b2f84074e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083e60d4e43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5da1cbee240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9edc055784c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ea18f5c5848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a2d7878f84f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170798e70413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4d8f665f94436" /><Relationship Type="http://schemas.openxmlformats.org/officeDocument/2006/relationships/image" Target="/ppt/media/image.png" Id="R70c919bf35154d1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a9d3169c5411a" /><Relationship Type="http://schemas.openxmlformats.org/officeDocument/2006/relationships/image" Target="/ppt/media/image2.png" Id="Rc0062010260a4df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70c919bf35154d1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0062010260a4df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4c6a0771f24617" /><Relationship Type="http://schemas.openxmlformats.org/officeDocument/2006/relationships/slideLayout" Target="/ppt/slideLayouts/slideLayout1.xml" Id="Rd0afbc5a8c0d48e1" /><Relationship Type="http://schemas.openxmlformats.org/officeDocument/2006/relationships/slideLayout" Target="/ppt/slideLayouts/slideLayout2.xml" Id="Rcdeaf5f50ab54904" /><Relationship Type="http://schemas.openxmlformats.org/officeDocument/2006/relationships/slideLayout" Target="/ppt/slideLayouts/slideLayout3.xml" Id="R9cbf615f5e9a4ddc" /><Relationship Type="http://schemas.openxmlformats.org/officeDocument/2006/relationships/slideLayout" Target="/ppt/slideLayouts/slideLayout4.xml" Id="R73403f6e8f4a489f" /><Relationship Type="http://schemas.openxmlformats.org/officeDocument/2006/relationships/slideLayout" Target="/ppt/slideLayouts/slideLayout5.xml" Id="R6cd0d4587ad04873" /><Relationship Type="http://schemas.openxmlformats.org/officeDocument/2006/relationships/slideLayout" Target="/ppt/slideLayouts/slideLayout6.xml" Id="R3002d6cb8b1848a8" /><Relationship Type="http://schemas.openxmlformats.org/officeDocument/2006/relationships/slideLayout" Target="/ppt/slideLayouts/slideLayout7.xml" Id="Rf79d1a85341b415c" /><Relationship Type="http://schemas.openxmlformats.org/officeDocument/2006/relationships/slideLayout" Target="/ppt/slideLayouts/slideLayout8.xml" Id="R7ef1ede4738f4d88" /><Relationship Type="http://schemas.openxmlformats.org/officeDocument/2006/relationships/slideLayout" Target="/ppt/slideLayouts/slideLayout9.xml" Id="Raf07ffaadfec491e" /><Relationship Type="http://schemas.openxmlformats.org/officeDocument/2006/relationships/slideLayout" Target="/ppt/slideLayouts/slideLayout10.xml" Id="R583be363dd2248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afbc5a8c0d48e1"/>
    <p:sldLayoutId xmlns:r="http://schemas.openxmlformats.org/officeDocument/2006/relationships" id="2147483650" r:id="Rcdeaf5f50ab54904"/>
    <p:sldLayoutId xmlns:r="http://schemas.openxmlformats.org/officeDocument/2006/relationships" id="2147483651" r:id="R9cbf615f5e9a4ddc"/>
    <p:sldLayoutId xmlns:r="http://schemas.openxmlformats.org/officeDocument/2006/relationships" id="2147483652" r:id="R73403f6e8f4a489f"/>
    <p:sldLayoutId xmlns:r="http://schemas.openxmlformats.org/officeDocument/2006/relationships" id="2147483653" r:id="R6cd0d4587ad04873"/>
    <p:sldLayoutId xmlns:r="http://schemas.openxmlformats.org/officeDocument/2006/relationships" id="2147483654" r:id="R3002d6cb8b1848a8"/>
    <p:sldLayoutId xmlns:r="http://schemas.openxmlformats.org/officeDocument/2006/relationships" id="2147483655" r:id="Rf79d1a85341b415c"/>
    <p:sldLayoutId xmlns:r="http://schemas.openxmlformats.org/officeDocument/2006/relationships" id="2147483656" r:id="R7ef1ede4738f4d88"/>
    <p:sldLayoutId xmlns:r="http://schemas.openxmlformats.org/officeDocument/2006/relationships" id="2147483657" r:id="Raf07ffaadfec491e"/>
    <p:sldLayoutId xmlns:r="http://schemas.openxmlformats.org/officeDocument/2006/relationships" id="2147483658" r:id="R583be363dd22480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fff8f5593469f" /><Relationship Type="http://schemas.openxmlformats.org/officeDocument/2006/relationships/image" Target="/ppt/media/image3.png" Id="Rd9a0be1329694f0d" /><Relationship Type="http://schemas.openxmlformats.org/officeDocument/2006/relationships/notesSlide" Target="/ppt/notesSlides/notesSlide1.xml" Id="R7ad7bc871c53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9554e19b947d6" /><Relationship Type="http://schemas.openxmlformats.org/officeDocument/2006/relationships/chart" Target="/ppt/slides/charts/chart1.xml" Id="R5f5f5b3ef5a548b8" /><Relationship Type="http://schemas.openxmlformats.org/officeDocument/2006/relationships/notesSlide" Target="/ppt/notesSlides/notesSlide2.xml" Id="R18aa58f9bccd47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9a157795c4887" /><Relationship Type="http://schemas.openxmlformats.org/officeDocument/2006/relationships/chart" Target="/ppt/slides/charts/chart2.xml" Id="R4ac07068b6e94571" /><Relationship Type="http://schemas.openxmlformats.org/officeDocument/2006/relationships/notesSlide" Target="/ppt/notesSlides/notesSlide3.xml" Id="R1a5f922daa624b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65fdf02c3f944c7" /><Relationship Type="http://schemas.openxmlformats.org/officeDocument/2006/relationships/notesSlide" Target="/ppt/notesSlides/notesSlide4.xml" Id="R27180c763a9b49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a4ca989244355" /><Relationship Type="http://schemas.openxmlformats.org/officeDocument/2006/relationships/notesSlide" Target="/ppt/notesSlides/notesSlide5.xml" Id="R7eb45e22afb44d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17bb4077485b" /><Relationship Type="http://schemas.openxmlformats.org/officeDocument/2006/relationships/image" Target="/ppt/media/image3.png" Id="Raf4837d8853c4deb" /><Relationship Type="http://schemas.openxmlformats.org/officeDocument/2006/relationships/notesSlide" Target="/ppt/notesSlides/notesSlide6.xml" Id="R75aca44253d040c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073B5C"/>
                </a:solidFill>
              </a:rPr>
              <a:t>Validation MAE by approach (MW)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073B5C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0B48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9FB3C8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1-day baseline</c:v>
                </c:pt>
                <c:pt idx="1">
                  <c:v>5-min baseline</c:v>
                </c:pt>
                <c:pt idx="2">
                  <c:v>Linear</c:v>
                </c:pt>
                <c:pt idx="3">
                  <c:v>Random forest</c:v>
                </c:pt>
                <c:pt idx="4">
                  <c:v>XGBoost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463.38</c:v>
                </c:pt>
                <c:pt idx="1">
                  <c:v>27.34</c:v>
                </c:pt>
                <c:pt idx="2">
                  <c:v>23.48</c:v>
                </c:pt>
                <c:pt idx="3">
                  <c:v>24.61</c:v>
                </c:pt>
                <c:pt idx="4">
                  <c:v>26.84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8658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A4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073B5C"/>
                </a:solidFill>
              </a:rPr>
              <a:t>Five-minute test MAE (MW)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073B5C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0B48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9FB3C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Persistence baseline</c:v>
                </c:pt>
                <c:pt idx="1">
                  <c:v>Selected linear model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29.09</c:v>
                </c:pt>
                <c:pt idx="1">
                  <c:v>24.59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A4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MAE (MW)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86581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defPPr>
              <a:defRPr b="0">
                <a:solidFill>
                  <a:srgbClr val="073B5C"/>
                </a:solidFill>
              </a:defRPr>
            </a:defPPr>
            <a:lvl1pPr>
              <a:buNone/>
              <a:defRPr b="0">
                <a:solidFill>
                  <a:srgbClr val="073B5C"/>
                </a:solidFill>
              </a:defRPr>
            </a:lvl1pPr>
            <a:lvl2pPr>
              <a:buNone/>
              <a:defRPr b="0">
                <a:solidFill>
                  <a:srgbClr val="073B5C"/>
                </a:solidFill>
              </a:defRPr>
            </a:lvl2pPr>
            <a:lvl3pPr>
              <a:buNone/>
              <a:defRPr b="0">
                <a:solidFill>
                  <a:srgbClr val="073B5C"/>
                </a:solidFill>
              </a:defRPr>
            </a:lvl3pPr>
            <a:lvl4pPr>
              <a:buNone/>
              <a:defRPr b="0">
                <a:solidFill>
                  <a:srgbClr val="073B5C"/>
                </a:solidFill>
              </a:defRPr>
            </a:lvl4pPr>
            <a:lvl5pPr>
              <a:buNone/>
              <a:defRPr b="0">
                <a:solidFill>
                  <a:srgbClr val="073B5C"/>
                </a:solidFill>
              </a:defRPr>
            </a:lvl5pPr>
            <a:lvl6pPr>
              <a:buNone/>
              <a:defRPr b="0">
                <a:solidFill>
                  <a:srgbClr val="073B5C"/>
                </a:solidFill>
              </a:defRPr>
            </a:lvl6pPr>
            <a:lvl7pPr>
              <a:buNone/>
              <a:defRPr b="0">
                <a:solidFill>
                  <a:srgbClr val="073B5C"/>
                </a:solidFill>
              </a:defRPr>
            </a:lvl7pPr>
            <a:lvl8pPr>
              <a:buNone/>
              <a:defRPr b="0">
                <a:solidFill>
                  <a:srgbClr val="073B5C"/>
                </a:solidFill>
              </a:defRPr>
            </a:lvl8pPr>
            <a:lvl9pPr>
              <a:buNone/>
              <a:defRPr b="0">
                <a:solidFill>
                  <a:srgbClr val="073B5C"/>
                </a:solidFill>
              </a:defRPr>
            </a:lvl9pPr>
          </a:lstStyle>
          <a:p xmlns:a="http://schemas.openxmlformats.org/drawingml/2006/main">
            <a:pPr>
              <a:buNone/>
              <a:defRPr b="0">
                <a:solidFill>
                  <a:srgbClr val="073B5C"/>
                </a:solidFill>
              </a:defRPr>
            </a:pPr>
            <a:r>
              <a:rPr sz="7200" b="0">
                <a:solidFill>
                  <a:srgbClr val="073B5C"/>
                </a:solidFill>
              </a:rPr>
              <a:t>Weather-Aware</a:t>
            </a:r>
          </a:p>
          <a:p xmlns:a="http://schemas.openxmlformats.org/drawingml/2006/main">
            <a:pPr>
              <a:buNone/>
              <a:defRPr b="0">
                <a:solidFill>
                  <a:srgbClr val="073B5C"/>
                </a:solidFill>
              </a:defRPr>
            </a:pPr>
            <a:r>
              <a:rPr sz="7200" b="0">
                <a:solidFill>
                  <a:srgbClr val="073B5C"/>
                </a:solidFill>
              </a:rPr>
              <a:t>Power Cast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02A43"/>
                </a:solidFill>
              </a:defRPr>
            </a:defPPr>
            <a:lvl1pPr>
              <a:buNone/>
              <a:defRPr>
                <a:solidFill>
                  <a:srgbClr val="102A43"/>
                </a:solidFill>
              </a:defRPr>
            </a:lvl1pPr>
            <a:lvl2pPr>
              <a:buNone/>
              <a:defRPr>
                <a:solidFill>
                  <a:srgbClr val="102A43"/>
                </a:solidFill>
              </a:defRPr>
            </a:lvl2pPr>
            <a:lvl3pPr>
              <a:buNone/>
              <a:defRPr>
                <a:solidFill>
                  <a:srgbClr val="102A43"/>
                </a:solidFill>
              </a:defRPr>
            </a:lvl3pPr>
            <a:lvl4pPr>
              <a:buNone/>
              <a:defRPr>
                <a:solidFill>
                  <a:srgbClr val="102A43"/>
                </a:solidFill>
              </a:defRPr>
            </a:lvl4pPr>
            <a:lvl5pPr>
              <a:buNone/>
              <a:defRPr>
                <a:solidFill>
                  <a:srgbClr val="102A43"/>
                </a:solidFill>
              </a:defRPr>
            </a:lvl5pPr>
            <a:lvl6pPr>
              <a:buNone/>
              <a:defRPr>
                <a:solidFill>
                  <a:srgbClr val="102A43"/>
                </a:solidFill>
              </a:defRPr>
            </a:lvl6pPr>
            <a:lvl7pPr>
              <a:buNone/>
              <a:defRPr>
                <a:solidFill>
                  <a:srgbClr val="102A43"/>
                </a:solidFill>
              </a:defRPr>
            </a:lvl7pPr>
            <a:lvl8pPr>
              <a:buNone/>
              <a:defRPr>
                <a:solidFill>
                  <a:srgbClr val="102A43"/>
                </a:solidFill>
              </a:defRPr>
            </a:lvl8pPr>
            <a:lvl9pPr>
              <a:buNone/>
              <a:defRPr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buNone/>
              <a:defRPr>
                <a:solidFill>
                  <a:srgbClr val="102A43"/>
                </a:solidFill>
              </a:defRPr>
            </a:pPr>
            <a:r>
              <a:rPr sz="1800">
                <a:solidFill>
                  <a:srgbClr val="102A43"/>
                </a:solidFill>
              </a:rPr>
              <a:t>ML project coordination dashboard</a:t>
            </a:r>
          </a:p>
          <a:p xmlns:a="http://schemas.openxmlformats.org/drawingml/2006/main">
            <a:pPr>
              <a:buNone/>
              <a:defRPr>
                <a:solidFill>
                  <a:srgbClr val="102A43"/>
                </a:solidFill>
              </a:defRPr>
            </a:pPr>
            <a:r>
              <a:rPr sz="1800">
                <a:solidFill>
                  <a:srgbClr val="102A43"/>
                </a:solidFill>
              </a:rPr>
              <a:t>2021–2024 electricity-demand data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32D818C-7A1E-4983-8D9D-5772073F1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0be1329694f0d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Model performance dashboard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DDF6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 b="1">
                <a:solidFill>
                  <a:srgbClr val="073B5C"/>
                </a:solidFill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b="1">
                <a:solidFill>
                  <a:srgbClr val="073B5C"/>
                </a:solidFill>
              </a:defRPr>
            </a:pPr>
            <a:r>
              <a:rPr sz="1800" b="1">
                <a:solidFill>
                  <a:srgbClr val="073B5C"/>
                </a:solidFill>
                <a:latin typeface="Helvetica Neue"/>
                <a:ea typeface="Helvetica Neue"/>
                <a:cs typeface="Helvetica Neue"/>
              </a:rPr>
              <a:t>Selected model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073B5C"/>
                </a:solidFill>
              </a:defRPr>
            </a:pPr>
            <a:r>
              <a:rPr sz="1800" b="1">
                <a:solidFill>
                  <a:srgbClr val="073B5C"/>
                </a:solidFill>
                <a:latin typeface="Helvetica Neue"/>
                <a:ea typeface="Helvetica Neue"/>
                <a:cs typeface="Helvetica Neue"/>
              </a:rPr>
              <a:t>Linear regression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DDF6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 b="1">
                <a:solidFill>
                  <a:srgbClr val="073B5C"/>
                </a:solidFill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b="1">
                <a:solidFill>
                  <a:srgbClr val="073B5C"/>
                </a:solidFill>
              </a:defRPr>
            </a:pPr>
            <a:r>
              <a:rPr sz="1800" b="1">
                <a:solidFill>
                  <a:srgbClr val="073B5C"/>
                </a:solidFill>
                <a:latin typeface="Helvetica Neue"/>
                <a:ea typeface="Helvetica Neue"/>
                <a:cs typeface="Helvetica Neue"/>
              </a:rPr>
              <a:t>2024 test R²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073B5C"/>
                </a:solidFill>
              </a:defRPr>
            </a:pPr>
            <a:r>
              <a:rPr sz="1800" b="1">
                <a:solidFill>
                  <a:srgbClr val="073B5C"/>
                </a:solidFill>
                <a:latin typeface="Helvetica Neue"/>
                <a:ea typeface="Helvetica Neue"/>
                <a:cs typeface="Helvetica Neue"/>
              </a:rPr>
              <a:t>0.9991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DDF6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 b="1">
                <a:solidFill>
                  <a:srgbClr val="073B5C"/>
                </a:solidFill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b="1">
                <a:solidFill>
                  <a:srgbClr val="073B5C"/>
                </a:solidFill>
              </a:defRPr>
            </a:pPr>
            <a:r>
              <a:rPr sz="1800" b="1">
                <a:solidFill>
                  <a:srgbClr val="073B5C"/>
                </a:solidFill>
                <a:latin typeface="Helvetica Neue"/>
                <a:ea typeface="Helvetica Neue"/>
                <a:cs typeface="Helvetica Neue"/>
              </a:rPr>
              <a:t>2024 test MAE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073B5C"/>
                </a:solidFill>
              </a:defRPr>
            </a:pPr>
            <a:r>
              <a:rPr sz="1800" b="1">
                <a:solidFill>
                  <a:srgbClr val="073B5C"/>
                </a:solidFill>
                <a:latin typeface="Helvetica Neue"/>
                <a:ea typeface="Helvetica Neue"/>
                <a:cs typeface="Helvetica Neue"/>
              </a:rPr>
              <a:t>24.59 MW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4" name="Chart">
            <a:extLst xmlns:a="http://schemas.openxmlformats.org/drawingml/2006/main">
              <a:ext uri="{FF2B5EF4-FFF2-40B4-BE49-F238E27FC236}">
                <a16:creationId xmlns:a16="http://schemas.microsoft.com/office/drawing/2014/main" id="{FAE4C7B2-9915-4977-A3CD-4770AE3564FE}"/>
              </a:ext>
            </a:extLst>
          </p:cNvPr>
          <p:cNvGraphicFramePr/>
          <p:nvPr/>
        </p:nvGraphicFramePr>
        <p:xfrm>
          <a:off xmlns:a="http://schemas.openxmlformats.org/drawingml/2006/main" x="390525" y="2476500"/>
          <a:ext xmlns:a="http://schemas.openxmlformats.org/drawingml/2006/main" cx="5429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5f5b3ef5a548b8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16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 test-set results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DDF6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8157"/>
          </a:bodyPr>
          <a:lstStyle xmlns:a="http://schemas.openxmlformats.org/drawingml/2006/main">
            <a:defPPr>
              <a:defRPr b="1">
                <a:solidFill>
                  <a:srgbClr val="073B5C"/>
                </a:solidFill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b="1">
                <a:solidFill>
                  <a:srgbClr val="073B5C"/>
                </a:solidFill>
              </a:defRPr>
            </a:pPr>
            <a:r>
              <a:rPr sz="5000" b="1" u="none" strike="noStrike" cap="none" spc="0" baseline="0">
                <a:ln>
                  <a:noFill/>
                </a:ln>
                <a:solidFill>
                  <a:srgbClr val="073B5C"/>
                </a:solidFill>
                <a:latin typeface="Helvetica Neue"/>
                <a:ea typeface="Helvetica Neue"/>
                <a:cs typeface="Helvetica Neue"/>
              </a:rPr>
              <a:t>24.59 MW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Mean absolute error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DDF6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8157"/>
          </a:bodyPr>
          <a:lstStyle xmlns:a="http://schemas.openxmlformats.org/drawingml/2006/main">
            <a:defPPr>
              <a:defRPr b="1">
                <a:solidFill>
                  <a:srgbClr val="073B5C"/>
                </a:solidFill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b="1">
                <a:solidFill>
                  <a:srgbClr val="073B5C"/>
                </a:solidFill>
              </a:defRPr>
            </a:pPr>
            <a:r>
              <a:rPr sz="5000" b="1" u="none" strike="noStrike" cap="none" spc="0" baseline="0">
                <a:ln>
                  <a:noFill/>
                </a:ln>
                <a:solidFill>
                  <a:srgbClr val="073B5C"/>
                </a:solidFill>
                <a:latin typeface="Helvetica Neue"/>
                <a:ea typeface="Helvetica Neue"/>
                <a:cs typeface="Helvetica Neue"/>
              </a:rPr>
              <a:t>41.87 MW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Root mean square error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Five-minute persistence MAE: 29.09 MW. The selected model reduced MAE by 15.5% on unseen 2024 data.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44" name="Chart">
            <a:extLst xmlns:a="http://schemas.openxmlformats.org/drawingml/2006/main">
              <a:ext uri="{FF2B5EF4-FFF2-40B4-BE49-F238E27FC236}">
                <a16:creationId xmlns:a16="http://schemas.microsoft.com/office/drawing/2014/main" id="{E8218C8F-E262-4777-9529-819DA2114696}"/>
              </a:ext>
            </a:extLst>
          </p:cNvPr>
          <p:cNvGraphicFramePr/>
          <p:nvPr/>
        </p:nvGraphicFramePr>
        <p:xfrm>
          <a:off xmlns:a="http://schemas.openxmlformats.org/drawingml/2006/main" x="390525" y="2619375"/>
          <a:ext xmlns:a="http://schemas.openxmlformats.org/drawingml/2006/main" cx="5429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c07068b6e94571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19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Forecasting inputs and data controls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DDF6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DDF6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DDF6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073B5C"/>
                </a:solidFill>
              </a:defRPr>
            </a:defPPr>
            <a:lvl1pPr>
              <a:buNone/>
              <a:defRPr>
                <a:solidFill>
                  <a:srgbClr val="073B5C"/>
                </a:solidFill>
              </a:defRPr>
            </a:lvl1pPr>
            <a:lvl2pPr>
              <a:buNone/>
              <a:defRPr>
                <a:solidFill>
                  <a:srgbClr val="073B5C"/>
                </a:solidFill>
              </a:defRPr>
            </a:lvl2pPr>
            <a:lvl3pPr>
              <a:buNone/>
              <a:defRPr>
                <a:solidFill>
                  <a:srgbClr val="073B5C"/>
                </a:solidFill>
              </a:defRPr>
            </a:lvl3pPr>
            <a:lvl4pPr>
              <a:buNone/>
              <a:defRPr>
                <a:solidFill>
                  <a:srgbClr val="073B5C"/>
                </a:solidFill>
              </a:defRPr>
            </a:lvl4pPr>
            <a:lvl5pPr>
              <a:buNone/>
              <a:defRPr>
                <a:solidFill>
                  <a:srgbClr val="073B5C"/>
                </a:solidFill>
              </a:defRPr>
            </a:lvl5pPr>
            <a:lvl6pPr>
              <a:buNone/>
              <a:defRPr>
                <a:solidFill>
                  <a:srgbClr val="073B5C"/>
                </a:solidFill>
              </a:defRPr>
            </a:lvl6pPr>
            <a:lvl7pPr>
              <a:buNone/>
              <a:defRPr>
                <a:solidFill>
                  <a:srgbClr val="073B5C"/>
                </a:solidFill>
              </a:defRPr>
            </a:lvl7pPr>
            <a:lvl8pPr>
              <a:buNone/>
              <a:defRPr>
                <a:solidFill>
                  <a:srgbClr val="073B5C"/>
                </a:solidFill>
              </a:defRPr>
            </a:lvl8pPr>
            <a:lvl9pPr>
              <a:buNone/>
              <a:defRPr>
                <a:solidFill>
                  <a:srgbClr val="073B5C"/>
                </a:solidFill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solidFill>
                  <a:srgbClr val="073B5C"/>
                </a:solidFill>
              </a:defRPr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073B5C"/>
                </a:solidFill>
                <a:latin typeface="Inter"/>
                <a:ea typeface="Inter"/>
                <a:cs typeface="Inter"/>
              </a:rPr>
              <a:t>Weather and calendar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solidFill>
                  <a:srgbClr val="073B5C"/>
                </a:solidFill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073B5C"/>
                </a:solidFill>
                <a:latin typeface="Inter"/>
                <a:ea typeface="Inter"/>
                <a:cs typeface="Inter"/>
              </a:rPr>
              <a:t>Temperature, dew point, humidity, wind, pressure, hour, weekday, weekend, and Indian holidays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073B5C"/>
                </a:solidFill>
              </a:defRPr>
            </a:defPPr>
            <a:lvl1pPr>
              <a:buNone/>
              <a:defRPr>
                <a:solidFill>
                  <a:srgbClr val="073B5C"/>
                </a:solidFill>
              </a:defRPr>
            </a:lvl1pPr>
            <a:lvl2pPr>
              <a:buNone/>
              <a:defRPr>
                <a:solidFill>
                  <a:srgbClr val="073B5C"/>
                </a:solidFill>
              </a:defRPr>
            </a:lvl2pPr>
            <a:lvl3pPr>
              <a:buNone/>
              <a:defRPr>
                <a:solidFill>
                  <a:srgbClr val="073B5C"/>
                </a:solidFill>
              </a:defRPr>
            </a:lvl3pPr>
            <a:lvl4pPr>
              <a:buNone/>
              <a:defRPr>
                <a:solidFill>
                  <a:srgbClr val="073B5C"/>
                </a:solidFill>
              </a:defRPr>
            </a:lvl4pPr>
            <a:lvl5pPr>
              <a:buNone/>
              <a:defRPr>
                <a:solidFill>
                  <a:srgbClr val="073B5C"/>
                </a:solidFill>
              </a:defRPr>
            </a:lvl5pPr>
            <a:lvl6pPr>
              <a:buNone/>
              <a:defRPr>
                <a:solidFill>
                  <a:srgbClr val="073B5C"/>
                </a:solidFill>
              </a:defRPr>
            </a:lvl6pPr>
            <a:lvl7pPr>
              <a:buNone/>
              <a:defRPr>
                <a:solidFill>
                  <a:srgbClr val="073B5C"/>
                </a:solidFill>
              </a:defRPr>
            </a:lvl7pPr>
            <a:lvl8pPr>
              <a:buNone/>
              <a:defRPr>
                <a:solidFill>
                  <a:srgbClr val="073B5C"/>
                </a:solidFill>
              </a:defRPr>
            </a:lvl8pPr>
            <a:lvl9pPr>
              <a:buNone/>
              <a:defRPr>
                <a:solidFill>
                  <a:srgbClr val="073B5C"/>
                </a:solidFill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073B5C"/>
                </a:solidFill>
              </a:defRPr>
            </a:pPr>
            <a:r>
              <a:rPr sz="2000">
                <a:solidFill>
                  <a:srgbClr val="073B5C"/>
                </a:solidFill>
                <a:latin typeface="Inter"/>
                <a:ea typeface="Inter"/>
                <a:cs typeface="Inter"/>
              </a:rPr>
              <a:t>Demand history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073B5C"/>
                </a:solidFill>
              </a:defRPr>
            </a:pPr>
            <a:r>
              <a:rPr sz="1600">
                <a:solidFill>
                  <a:srgbClr val="073B5C"/>
                </a:solidFill>
                <a:latin typeface="Inter"/>
                <a:ea typeface="Inter"/>
                <a:cs typeface="Inter"/>
              </a:rPr>
              <a:t>5-minute, 1-hour, 1-day, and 1-week lags plus the rolling mean for the prior hour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073B5C"/>
                </a:solidFill>
              </a:defRPr>
            </a:defPPr>
            <a:lvl1pPr>
              <a:buNone/>
              <a:defRPr>
                <a:solidFill>
                  <a:srgbClr val="073B5C"/>
                </a:solidFill>
              </a:defRPr>
            </a:lvl1pPr>
            <a:lvl2pPr>
              <a:buNone/>
              <a:defRPr>
                <a:solidFill>
                  <a:srgbClr val="073B5C"/>
                </a:solidFill>
              </a:defRPr>
            </a:lvl2pPr>
            <a:lvl3pPr>
              <a:buNone/>
              <a:defRPr>
                <a:solidFill>
                  <a:srgbClr val="073B5C"/>
                </a:solidFill>
              </a:defRPr>
            </a:lvl3pPr>
            <a:lvl4pPr>
              <a:buNone/>
              <a:defRPr>
                <a:solidFill>
                  <a:srgbClr val="073B5C"/>
                </a:solidFill>
              </a:defRPr>
            </a:lvl4pPr>
            <a:lvl5pPr>
              <a:buNone/>
              <a:defRPr>
                <a:solidFill>
                  <a:srgbClr val="073B5C"/>
                </a:solidFill>
              </a:defRPr>
            </a:lvl5pPr>
            <a:lvl6pPr>
              <a:buNone/>
              <a:defRPr>
                <a:solidFill>
                  <a:srgbClr val="073B5C"/>
                </a:solidFill>
              </a:defRPr>
            </a:lvl6pPr>
            <a:lvl7pPr>
              <a:buNone/>
              <a:defRPr>
                <a:solidFill>
                  <a:srgbClr val="073B5C"/>
                </a:solidFill>
              </a:defRPr>
            </a:lvl7pPr>
            <a:lvl8pPr>
              <a:buNone/>
              <a:defRPr>
                <a:solidFill>
                  <a:srgbClr val="073B5C"/>
                </a:solidFill>
              </a:defRPr>
            </a:lvl8pPr>
            <a:lvl9pPr>
              <a:buNone/>
              <a:defRPr>
                <a:solidFill>
                  <a:srgbClr val="073B5C"/>
                </a:solidFill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073B5C"/>
                </a:solidFill>
              </a:defRPr>
            </a:pPr>
            <a:r>
              <a:rPr sz="2000">
                <a:solidFill>
                  <a:srgbClr val="073B5C"/>
                </a:solidFill>
                <a:latin typeface="Inter"/>
                <a:ea typeface="Inter"/>
                <a:cs typeface="Inter"/>
              </a:rPr>
              <a:t>Data quality watch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solidFill>
                  <a:srgbClr val="073B5C"/>
                </a:solidFill>
              </a:defRPr>
            </a:pPr>
            <a:r>
              <a:rPr sz="1600">
                <a:solidFill>
                  <a:srgbClr val="073B5C"/>
                </a:solidFill>
                <a:latin typeface="Inter"/>
                <a:ea typeface="Inter"/>
                <a:cs typeface="Inter"/>
              </a:rPr>
              <a:t>540 missing wind-direction values were forward-filled. 1,316 gaps exceeded five minutes.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solidFill>
                  <a:srgbClr val="073B5C"/>
                </a:solidFill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rgbClr val="073B5C"/>
                </a:solidFill>
              </a:defRPr>
            </a:pPr>
            <a:r>
              <a:rPr sz="1800">
                <a:solidFill>
                  <a:srgbClr val="073B5C"/>
                </a:solidFill>
                <a:latin typeface="Inter"/>
                <a:ea typeface="Inter"/>
                <a:cs typeface="Inter"/>
              </a:rPr>
              <a:t>The five-minute forecast combines weather, calendar context, and recent demand. Production monitoring must handle missing intervals before forecasts reach operations.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ML project coordination plan</a:t>
            </a:r>
            <a:endParaRPr/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31B1F59-2BC6-408E-881F-0E60E8C1F738}"/>
              </a:ext>
            </a:extLst>
          </p:cNvPr>
          <p:cNvGraphicFramePr/>
          <p:nvPr/>
        </p:nvGraphicFramePr>
        <p:xfrm>
          <a:off xmlns:a="http://schemas.openxmlformats.org/drawingml/2006/main" x="390525" y="1476375"/>
          <a:ext xmlns:a="http://schemas.openxmlformats.org/drawingml/2006/main" cx="11401425" cy="3952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280285"/>
                <a:gridCol w="2280285"/>
                <a:gridCol w="2280285"/>
                <a:gridCol w="2280285"/>
                <a:gridCol w="2280285"/>
              </a:tblGrid>
              <a:tr h="65881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06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Current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06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Decision / 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06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Next checkpoint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06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062A4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Data pipeline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393,440 records, 2021–2024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Confirm gap fallback rule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Before operational pilot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Needs decision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DDF6E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Feature pipeline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Weather, calendar, lag features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Version feature schema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Before retraining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In progress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DDF6E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Model selection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Linear regression leads validation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Approve baseline and model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Model 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Ready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DDF6E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2024 MAE 24.59 MW; R² 0.9991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Set error thresholds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Pilot readiness 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In progress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DDF6E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Operations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Five-minute forecast cadence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Define alert and rollback 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Production handoff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73B5C"/>
                          </a:solidFill>
                        </a:rPr>
                        <a:t>Needs decision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C"/>
                      </a:solidFill>
                      <a:prstDash val="solid"/>
                    </a:lnR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DDF6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defPPr>
              <a:defRPr>
                <a:solidFill>
                  <a:srgbClr val="073B5C"/>
                </a:solidFill>
              </a:defRPr>
            </a:defPPr>
            <a:lvl1pPr>
              <a:buNone/>
              <a:defRPr>
                <a:solidFill>
                  <a:srgbClr val="073B5C"/>
                </a:solidFill>
              </a:defRPr>
            </a:lvl1pPr>
            <a:lvl2pPr>
              <a:buNone/>
              <a:defRPr>
                <a:solidFill>
                  <a:srgbClr val="073B5C"/>
                </a:solidFill>
              </a:defRPr>
            </a:lvl2pPr>
            <a:lvl3pPr>
              <a:buNone/>
              <a:defRPr>
                <a:solidFill>
                  <a:srgbClr val="073B5C"/>
                </a:solidFill>
              </a:defRPr>
            </a:lvl3pPr>
            <a:lvl4pPr>
              <a:buNone/>
              <a:defRPr>
                <a:solidFill>
                  <a:srgbClr val="073B5C"/>
                </a:solidFill>
              </a:defRPr>
            </a:lvl4pPr>
            <a:lvl5pPr>
              <a:buNone/>
              <a:defRPr>
                <a:solidFill>
                  <a:srgbClr val="073B5C"/>
                </a:solidFill>
              </a:defRPr>
            </a:lvl5pPr>
            <a:lvl6pPr>
              <a:buNone/>
              <a:defRPr>
                <a:solidFill>
                  <a:srgbClr val="073B5C"/>
                </a:solidFill>
              </a:defRPr>
            </a:lvl6pPr>
            <a:lvl7pPr>
              <a:buNone/>
              <a:defRPr>
                <a:solidFill>
                  <a:srgbClr val="073B5C"/>
                </a:solidFill>
              </a:defRPr>
            </a:lvl7pPr>
            <a:lvl8pPr>
              <a:buNone/>
              <a:defRPr>
                <a:solidFill>
                  <a:srgbClr val="073B5C"/>
                </a:solidFill>
              </a:defRPr>
            </a:lvl8pPr>
            <a:lvl9pPr>
              <a:buNone/>
              <a:defRPr>
                <a:solidFill>
                  <a:srgbClr val="073B5C"/>
                </a:solidFill>
              </a:defRPr>
            </a:lvl9pPr>
          </a:lstStyle>
          <a:p xmlns:a="http://schemas.openxmlformats.org/drawingml/2006/main">
            <a:pPr>
              <a:buNone/>
              <a:defRPr>
                <a:solidFill>
                  <a:srgbClr val="073B5C"/>
                </a:solidFill>
              </a:defRPr>
            </a:pPr>
            <a:r>
              <a:rPr sz="7200">
                <a:solidFill>
                  <a:srgbClr val="073B5C"/>
                </a:solidFill>
              </a:rPr>
              <a:t>Decision for the next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02A43"/>
                </a:solidFill>
              </a:defRPr>
            </a:defPPr>
            <a:lvl1pPr>
              <a:buNone/>
              <a:defRPr>
                <a:solidFill>
                  <a:srgbClr val="102A43"/>
                </a:solidFill>
              </a:defRPr>
            </a:lvl1pPr>
            <a:lvl2pPr>
              <a:buNone/>
              <a:defRPr>
                <a:solidFill>
                  <a:srgbClr val="102A43"/>
                </a:solidFill>
              </a:defRPr>
            </a:lvl2pPr>
            <a:lvl3pPr>
              <a:buNone/>
              <a:defRPr>
                <a:solidFill>
                  <a:srgbClr val="102A43"/>
                </a:solidFill>
              </a:defRPr>
            </a:lvl3pPr>
            <a:lvl4pPr>
              <a:buNone/>
              <a:defRPr>
                <a:solidFill>
                  <a:srgbClr val="102A43"/>
                </a:solidFill>
              </a:defRPr>
            </a:lvl4pPr>
            <a:lvl5pPr>
              <a:buNone/>
              <a:defRPr>
                <a:solidFill>
                  <a:srgbClr val="102A43"/>
                </a:solidFill>
              </a:defRPr>
            </a:lvl5pPr>
            <a:lvl6pPr>
              <a:buNone/>
              <a:defRPr>
                <a:solidFill>
                  <a:srgbClr val="102A43"/>
                </a:solidFill>
              </a:defRPr>
            </a:lvl6pPr>
            <a:lvl7pPr>
              <a:buNone/>
              <a:defRPr>
                <a:solidFill>
                  <a:srgbClr val="102A43"/>
                </a:solidFill>
              </a:defRPr>
            </a:lvl7pPr>
            <a:lvl8pPr>
              <a:buNone/>
              <a:defRPr>
                <a:solidFill>
                  <a:srgbClr val="102A43"/>
                </a:solidFill>
              </a:defRPr>
            </a:lvl8pPr>
            <a:lvl9pPr>
              <a:buNone/>
              <a:defRPr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buNone/>
              <a:defRPr>
                <a:solidFill>
                  <a:srgbClr val="102A43"/>
                </a:solidFill>
              </a:defRPr>
            </a:pPr>
            <a:r>
              <a:rPr sz="1800">
                <a:solidFill>
                  <a:srgbClr val="102A43"/>
                </a:solidFill>
              </a:rPr>
              <a:t>Approve the linear model for a monitored pilot</a:t>
            </a:r>
          </a:p>
          <a:p xmlns:a="http://schemas.openxmlformats.org/drawingml/2006/main">
            <a:pPr>
              <a:buNone/>
              <a:defRPr>
                <a:solidFill>
                  <a:srgbClr val="102A43"/>
                </a:solidFill>
              </a:defRPr>
            </a:pPr>
            <a:r>
              <a:rPr sz="1800">
                <a:solidFill>
                  <a:srgbClr val="102A43"/>
                </a:solidFill>
              </a:rPr>
              <a:t>Set the missing-interval fallback and alert ownership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689DACEA-5D18-4919-92E8-F7904DC9C8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837d8853c4deb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2026-10-24T06:16:36.0920000Z</dcterms:created>
  <dcterms:modified xsi:type="dcterms:W3CDTF">2026-10-24T06:16:36.0930000Z</dcterms:modified>
</coreProperties>
</file>